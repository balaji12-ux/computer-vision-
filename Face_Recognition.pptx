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977640"/>
            <a:ext cx="91440" cy="91440"/>
          </a:xfrm>
          <a:prstGeom prst="ellipse">
            <a:avLst/>
          </a:prstGeom>
          <a:solidFill>
            <a:srgbClr val="5A5175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434840"/>
            <a:ext cx="91440" cy="91440"/>
          </a:xfrm>
          <a:prstGeom prst="ellipse">
            <a:avLst/>
          </a:prstGeom>
          <a:solidFill>
            <a:srgbClr val="5A5175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434840"/>
            <a:ext cx="91440" cy="91440"/>
          </a:xfrm>
          <a:prstGeom prst="ellipse">
            <a:avLst/>
          </a:prstGeom>
          <a:solidFill>
            <a:srgbClr val="5A5175"/>
          </a:solidFill>
          <a:ln/>
        </p:spPr>
      </p:sp>
      <p:sp>
        <p:nvSpPr>
          <p:cNvPr id="5" name="Shape 3"/>
          <p:cNvSpPr/>
          <p:nvPr/>
        </p:nvSpPr>
        <p:spPr>
          <a:xfrm>
            <a:off x="9189720" y="5074920"/>
            <a:ext cx="91440" cy="91440"/>
          </a:xfrm>
          <a:prstGeom prst="ellipse">
            <a:avLst/>
          </a:prstGeom>
          <a:solidFill>
            <a:srgbClr val="5A5175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5074920"/>
            <a:ext cx="91440" cy="91440"/>
          </a:xfrm>
          <a:prstGeom prst="ellipse">
            <a:avLst/>
          </a:prstGeom>
          <a:solidFill>
            <a:srgbClr val="5A5175"/>
          </a:solidFill>
          <a:ln/>
        </p:spPr>
      </p:sp>
      <p:sp>
        <p:nvSpPr>
          <p:cNvPr id="7" name="Shape 5"/>
          <p:cNvSpPr/>
          <p:nvPr/>
        </p:nvSpPr>
        <p:spPr>
          <a:xfrm>
            <a:off x="10012680" y="4892040"/>
            <a:ext cx="91440" cy="91440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8" name="Shape 6"/>
          <p:cNvSpPr/>
          <p:nvPr/>
        </p:nvSpPr>
        <p:spPr>
          <a:xfrm>
            <a:off x="9646920" y="5486400"/>
            <a:ext cx="91440" cy="91440"/>
          </a:xfrm>
          <a:prstGeom prst="ellipse">
            <a:avLst/>
          </a:prstGeom>
          <a:solidFill>
            <a:srgbClr val="5A5175"/>
          </a:solidFill>
          <a:ln/>
        </p:spPr>
      </p:sp>
      <p:sp>
        <p:nvSpPr>
          <p:cNvPr id="9" name="Shape 7"/>
          <p:cNvSpPr/>
          <p:nvPr/>
        </p:nvSpPr>
        <p:spPr>
          <a:xfrm>
            <a:off x="10378440" y="5486400"/>
            <a:ext cx="91440" cy="91440"/>
          </a:xfrm>
          <a:prstGeom prst="ellipse">
            <a:avLst/>
          </a:prstGeom>
          <a:solidFill>
            <a:srgbClr val="5A5175"/>
          </a:solidFill>
          <a:ln/>
        </p:spPr>
      </p:sp>
      <p:sp>
        <p:nvSpPr>
          <p:cNvPr id="10" name="Shape 8"/>
          <p:cNvSpPr/>
          <p:nvPr/>
        </p:nvSpPr>
        <p:spPr>
          <a:xfrm>
            <a:off x="10012680" y="5897880"/>
            <a:ext cx="91440" cy="91440"/>
          </a:xfrm>
          <a:prstGeom prst="ellipse">
            <a:avLst/>
          </a:prstGeom>
          <a:solidFill>
            <a:srgbClr val="5A5175"/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55480" y="4023360"/>
            <a:ext cx="502920" cy="45720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4023360"/>
            <a:ext cx="502920" cy="45720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235440" y="4480560"/>
            <a:ext cx="320040" cy="64008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61320" y="4480560"/>
            <a:ext cx="320040" cy="64008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55480" y="4480560"/>
            <a:ext cx="502920" cy="45720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058400" y="4480560"/>
            <a:ext cx="502920" cy="45720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692640" y="4937760"/>
            <a:ext cx="365760" cy="59436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4937760"/>
            <a:ext cx="365760" cy="59436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5532120"/>
            <a:ext cx="365760" cy="41148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058400" y="5532120"/>
            <a:ext cx="365760" cy="41148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5120640"/>
            <a:ext cx="457200" cy="41148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424160" y="5120640"/>
            <a:ext cx="457200" cy="411480"/>
          </a:xfrm>
          <a:prstGeom prst="line">
            <a:avLst/>
          </a:prstGeom>
          <a:noFill/>
          <a:ln w="12700">
            <a:solidFill>
              <a:srgbClr val="3A31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2860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73152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39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Computer Vision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49808" y="3794760"/>
            <a:ext cx="1280160" cy="0"/>
          </a:xfrm>
          <a:prstGeom prst="line">
            <a:avLst/>
          </a:prstGeom>
          <a:noFill/>
          <a:ln w="12700">
            <a:solidFill>
              <a:srgbClr val="6C62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77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Detect, Encode, and Match the Human Face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Face Recognition?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biometric technology that identifies or verifies a person by analyzing patterns in facial features, then comparing them against stored data.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770632"/>
            <a:ext cx="310896" cy="310896"/>
          </a:xfrm>
          <a:prstGeom prst="ellipse">
            <a:avLst/>
          </a:prstGeom>
          <a:solidFill>
            <a:srgbClr val="B0217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651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99008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a face within an image or video frame before anything else happens.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76472"/>
            <a:ext cx="310896" cy="310896"/>
          </a:xfrm>
          <a:prstGeom prst="ellipse">
            <a:avLst/>
          </a:prstGeom>
          <a:solidFill>
            <a:srgbClr val="B0217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657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99592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 1-to-1 question: "Is this the same person as this reference photo?"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310896" cy="310896"/>
          </a:xfrm>
          <a:prstGeom prst="ellipse">
            <a:avLst/>
          </a:prstGeom>
          <a:solidFill>
            <a:srgbClr val="B0217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663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50017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 1-to-many question: "Who is this, out of a known database?"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1234440"/>
            <a:ext cx="4526280" cy="4892040"/>
          </a:xfrm>
          <a:prstGeom prst="roundRect">
            <a:avLst>
              <a:gd name="adj" fmla="val 2424"/>
            </a:avLst>
          </a:prstGeom>
          <a:solidFill>
            <a:srgbClr val="160B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0664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63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19659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7406640" y="2880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reported by top deep-learning face recognition models on standard benchmarks.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3931920"/>
            <a:ext cx="3840480" cy="0"/>
          </a:xfrm>
          <a:prstGeom prst="line">
            <a:avLst/>
          </a:prstGeom>
          <a:noFill/>
          <a:ln w="12700">
            <a:solidFill>
              <a:srgbClr val="352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06640" y="46634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and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bring deep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facial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7260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128-D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372600" y="46634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size of the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vector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represent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 numerically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Face Recognition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 moves through five stages before it becomes a confirmed match.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66544" cy="3566160"/>
          </a:xfrm>
          <a:prstGeom prst="roundRect">
            <a:avLst>
              <a:gd name="adj" fmla="val 4425"/>
            </a:avLst>
          </a:prstGeom>
          <a:solidFill>
            <a:srgbClr val="160B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3500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2971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379476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the face's position within the frame, separating it from the background.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17013" y="3712464"/>
            <a:ext cx="1700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88920" y="2148840"/>
            <a:ext cx="2066544" cy="3566160"/>
          </a:xfrm>
          <a:prstGeom prst="roundRect">
            <a:avLst>
              <a:gd name="adj" fmla="val 4425"/>
            </a:avLst>
          </a:prstGeom>
          <a:solidFill>
            <a:srgbClr val="2012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53512" y="23500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53512" y="2971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53512" y="379476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pose, rotation, and scale using key facial landmarks like eyes and nose.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57293" y="3712464"/>
            <a:ext cx="1700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0" y="2148840"/>
            <a:ext cx="2066544" cy="3566160"/>
          </a:xfrm>
          <a:prstGeom prst="roundRect">
            <a:avLst>
              <a:gd name="adj" fmla="val 4425"/>
            </a:avLst>
          </a:prstGeom>
          <a:solidFill>
            <a:srgbClr val="160B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93792" y="23500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93792" y="2971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93792" y="379476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CNN converts the aligned face into a compact numerical embedding.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97573" y="3712464"/>
            <a:ext cx="1700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69480" y="2148840"/>
            <a:ext cx="2066544" cy="3566160"/>
          </a:xfrm>
          <a:prstGeom prst="roundRect">
            <a:avLst>
              <a:gd name="adj" fmla="val 4425"/>
            </a:avLst>
          </a:prstGeom>
          <a:solidFill>
            <a:srgbClr val="2012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34072" y="23500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34072" y="2971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34072" y="379476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face becomes a vector — typically 128 to 512 numbers — in feature space.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37853" y="3712464"/>
            <a:ext cx="1700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09760" y="2148840"/>
            <a:ext cx="2066544" cy="3566160"/>
          </a:xfrm>
          <a:prstGeom prst="roundRect">
            <a:avLst>
              <a:gd name="adj" fmla="val 4425"/>
            </a:avLst>
          </a:prstGeom>
          <a:solidFill>
            <a:srgbClr val="160B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74352" y="23500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74352" y="2971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74352" y="379476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vector's distance to stored embeddings to confirm or reject identity.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has evolved from classical statistics to deep embedding networks.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CEE"/>
            </a:solidFill>
            <a:prstDash val="solid"/>
          </a:ln>
          <a:effectLst>
            <a:outerShdw sx="100000" sy="100000" kx="0" ky="0" algn="bl" rotWithShape="0" blurRad="76200" dist="25400" dir="5400000">
              <a:srgbClr val="1E15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85416"/>
            <a:ext cx="365760" cy="365760"/>
          </a:xfrm>
          <a:prstGeom prst="ellipse">
            <a:avLst/>
          </a:prstGeom>
          <a:solidFill>
            <a:srgbClr val="B0217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6974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Eigenfaces (PCA)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8096" y="3136392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method reducing faces to a small set of principal components for comparison.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965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CEE"/>
            </a:solidFill>
            <a:prstDash val="solid"/>
          </a:ln>
          <a:effectLst>
            <a:outerShdw sx="100000" sy="100000" kx="0" ky="0" algn="bl" rotWithShape="0" blurRad="76200" dist="25400" dir="5400000">
              <a:srgbClr val="1E15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2185416"/>
            <a:ext cx="365760" cy="365760"/>
          </a:xfrm>
          <a:prstGeom prst="ellipse">
            <a:avLst/>
          </a:prstGeom>
          <a:solidFill>
            <a:srgbClr val="B02176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26974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Fisherfaces (LDA)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0288" y="3136392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on Eigenfaces by maximizing class separation between different people.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93024" y="1965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CEE"/>
            </a:solidFill>
            <a:prstDash val="solid"/>
          </a:ln>
          <a:effectLst>
            <a:outerShdw sx="100000" sy="100000" kx="0" ky="0" algn="bl" rotWithShape="0" blurRad="76200" dist="25400" dir="5400000">
              <a:srgbClr val="1E15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2185416"/>
            <a:ext cx="365760" cy="365760"/>
          </a:xfrm>
          <a:prstGeom prst="ellipse">
            <a:avLst/>
          </a:prstGeom>
          <a:solidFill>
            <a:srgbClr val="B0217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6974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SVM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0" y="3136392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gradient-based features with a classifier — fast, but limited on varied poses.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CEE"/>
            </a:solidFill>
            <a:prstDash val="solid"/>
          </a:ln>
          <a:effectLst>
            <a:outerShdw sx="100000" sy="100000" kx="0" ky="0" algn="bl" rotWithShape="0" blurRad="76200" dist="25400" dir="5400000">
              <a:srgbClr val="1E15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4407408"/>
            <a:ext cx="365760" cy="365760"/>
          </a:xfrm>
          <a:prstGeom prst="ellipse">
            <a:avLst/>
          </a:prstGeom>
          <a:solidFill>
            <a:srgbClr val="B0217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91947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Embeddings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8096" y="5358384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like FaceNet map faces into a compact, comparable vector space.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70832" y="418795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CEE"/>
            </a:solidFill>
            <a:prstDash val="solid"/>
          </a:ln>
          <a:effectLst>
            <a:outerShdw sx="100000" sy="100000" kx="0" ky="0" algn="bl" rotWithShape="0" blurRad="76200" dist="25400" dir="5400000">
              <a:srgbClr val="1E15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4407408"/>
            <a:ext cx="365760" cy="365760"/>
          </a:xfrm>
          <a:prstGeom prst="ellipse">
            <a:avLst/>
          </a:prstGeom>
          <a:solidFill>
            <a:srgbClr val="B02176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491947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Loss Training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90288" y="5358384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embeddings so matching faces sit closer together than non-matching ones.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93024" y="418795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CEE"/>
            </a:solidFill>
            <a:prstDash val="solid"/>
          </a:ln>
          <a:effectLst>
            <a:outerShdw sx="100000" sy="100000" kx="0" ky="0" algn="bl" rotWithShape="0" blurRad="76200" dist="25400" dir="5400000">
              <a:srgbClr val="1E15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4407408"/>
            <a:ext cx="365760" cy="365760"/>
          </a:xfrm>
          <a:prstGeom prst="ellipse">
            <a:avLst/>
          </a:prstGeom>
          <a:solidFill>
            <a:srgbClr val="B02176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91947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/ CosFace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12480" y="5358384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loss functions that sharpen the margin between different identities.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already sits behind everyday products, security, and services.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20123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185416"/>
            <a:ext cx="365760" cy="365760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69748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Unlocking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3108960"/>
            <a:ext cx="3127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phones and laptops authenticate an owner in a fraction of a second.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965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20123F"/>
          </a:solidFill>
          <a:ln/>
        </p:spPr>
      </p:sp>
      <p:sp>
        <p:nvSpPr>
          <p:cNvPr id="9" name="Shape 7"/>
          <p:cNvSpPr/>
          <p:nvPr/>
        </p:nvSpPr>
        <p:spPr>
          <a:xfrm>
            <a:off x="4590288" y="2185416"/>
            <a:ext cx="365760" cy="365760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269748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&amp; Border Control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3108960"/>
            <a:ext cx="3127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travelers to passport photos for faster, touchless checkpoints.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93024" y="1965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20123F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2185416"/>
            <a:ext cx="365760" cy="365760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69748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108960"/>
            <a:ext cx="3127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match surveillance footage against watchlists to identify suspects.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20123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" y="4407408"/>
            <a:ext cx="365760" cy="365760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91947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Access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5330952"/>
            <a:ext cx="3127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employee or student attendance and secures restricted areas.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70832" y="418795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20123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90288" y="4407408"/>
            <a:ext cx="365760" cy="365760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491947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Marketing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0288" y="5330952"/>
            <a:ext cx="3127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personalized in-store experiences and loss-prevention systems.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93024" y="418795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20123F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0" y="4407408"/>
            <a:ext cx="365760" cy="365760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91947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Organization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5330952"/>
            <a:ext cx="3127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tags and groups people across personal photo libraries.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Ethical Considerations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63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100584" cy="100584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190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Attacks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masks, or deepfakes can attempt to trick a system without liveness checks.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35224"/>
            <a:ext cx="100584" cy="100584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706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&amp; Pose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lighting, extreme angles, or occlusion (masks, glasses) reduce accuracy.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86784"/>
            <a:ext cx="100584" cy="100584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221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&amp; Variation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changes over time or across expressions can lower match confidence.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038344"/>
            <a:ext cx="100584" cy="100584"/>
          </a:xfrm>
          <a:prstGeom prst="ellipse">
            <a:avLst/>
          </a:prstGeom>
          <a:solidFill>
            <a:srgbClr val="E6399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737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Subtly altered images can be crafted to fool a model's embedding space.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20123F"/>
          </a:solidFill>
          <a:ln w="12700">
            <a:solidFill>
              <a:srgbClr val="352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645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63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SOCIAL CONCERNS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1488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Bias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49631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has historically varied across skin tone, gender, and age groups.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31729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Consent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5204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surveillance raises questions about tracking people without their knowledge.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0" y="4197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454456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facial data can't be reset like a password, raising the stakes of a breach.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52212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556869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increasingly require disclosure, audits, or bans in certain contexts.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2026-07-16T03:39:37Z</dcterms:created>
  <dcterms:modified xsi:type="dcterms:W3CDTF">2026-07-16T03:39:37Z</dcterms:modified>
</cp:coreProperties>
</file>